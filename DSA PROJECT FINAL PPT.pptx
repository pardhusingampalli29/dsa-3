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9" r:id="rId4"/>
    <p:sldId id="260" r:id="rId5"/>
    <p:sldId id="261" r:id="rId6"/>
    <p:sldId id="262" r:id="rId7"/>
    <p:sldId id="264" r:id="rId8"/>
    <p:sldId id="265" r:id="rId9"/>
    <p:sldId id="26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32" d="100"/>
          <a:sy n="32" d="100"/>
        </p:scale>
        <p:origin x="1104"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400" b="1">
                <a:solidFill>
                  <a:srgbClr val="233750"/>
                </a:solidFill>
                <a:latin typeface="Aptos"/>
              </a:rPr>
              <a:t>Delivery Route Optimizer</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b="1">
                <a:solidFill>
                  <a:srgbClr val="233750"/>
                </a:solidFill>
                <a:latin typeface="Aptos"/>
              </a:rPr>
              <a:t>Data Structures and Algorithms – 3 (25CS2103E)</a:t>
            </a:r>
          </a:p>
          <a:p>
            <a:pPr>
              <a:spcAft>
                <a:spcPts val="1000"/>
              </a:spcAft>
              <a:defRPr sz="2000"/>
            </a:pPr>
            <a:r>
              <a:rPr sz="1800" b="1">
                <a:solidFill>
                  <a:srgbClr val="233750"/>
                </a:solidFill>
                <a:latin typeface="Aptos"/>
              </a:rPr>
              <a:t>Team Number: 23 | Section: 10</a:t>
            </a:r>
          </a:p>
          <a:p>
            <a:pPr>
              <a:spcAft>
                <a:spcPts val="1000"/>
              </a:spcAft>
              <a:defRPr sz="2000"/>
            </a:pPr>
            <a:r>
              <a:rPr sz="1800" b="1">
                <a:solidFill>
                  <a:srgbClr val="233750"/>
                </a:solidFill>
                <a:latin typeface="Aptos"/>
              </a:rPr>
              <a:t>S. Pardhu Saradhi (2520090043)</a:t>
            </a:r>
          </a:p>
          <a:p>
            <a:pPr>
              <a:spcAft>
                <a:spcPts val="1000"/>
              </a:spcAft>
              <a:defRPr sz="2000"/>
            </a:pPr>
            <a:r>
              <a:rPr sz="1800" b="1">
                <a:solidFill>
                  <a:srgbClr val="233750"/>
                </a:solidFill>
                <a:latin typeface="Aptos"/>
              </a:rPr>
              <a:t>U. Shiva Reddy (2520090172)</a:t>
            </a:r>
          </a:p>
          <a:p>
            <a:pPr>
              <a:spcAft>
                <a:spcPts val="1000"/>
              </a:spcAft>
              <a:defRPr sz="2000"/>
            </a:pPr>
            <a:r>
              <a:rPr sz="1800" b="1">
                <a:solidFill>
                  <a:srgbClr val="233750"/>
                </a:solidFill>
                <a:latin typeface="Aptos"/>
              </a:rPr>
              <a:t>Under the guidance of K. Chandusha, Asst. Prof., CS&amp;IT</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01</a:t>
            </a:r>
          </a:p>
        </p:txBody>
      </p:sp>
      <p:sp>
        <p:nvSpPr>
          <p:cNvPr id="7" name="Oval 6"/>
          <p:cNvSpPr/>
          <p:nvPr/>
        </p:nvSpPr>
        <p:spPr>
          <a:xfrm>
            <a:off x="914400" y="4754880"/>
            <a:ext cx="292608" cy="292608"/>
          </a:xfrm>
          <a:prstGeom prst="ellipse">
            <a:avLst/>
          </a:prstGeom>
          <a:solidFill>
            <a:srgbClr val="4B698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8" name="Oval 7"/>
          <p:cNvSpPr/>
          <p:nvPr/>
        </p:nvSpPr>
        <p:spPr>
          <a:xfrm>
            <a:off x="3840480" y="3749039"/>
            <a:ext cx="292608" cy="292608"/>
          </a:xfrm>
          <a:prstGeom prst="ellipse">
            <a:avLst/>
          </a:prstGeom>
          <a:solidFill>
            <a:srgbClr val="4B698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9" name="Oval 8"/>
          <p:cNvSpPr/>
          <p:nvPr/>
        </p:nvSpPr>
        <p:spPr>
          <a:xfrm>
            <a:off x="6766560" y="4572000"/>
            <a:ext cx="292608" cy="292608"/>
          </a:xfrm>
          <a:prstGeom prst="ellipse">
            <a:avLst/>
          </a:prstGeom>
          <a:solidFill>
            <a:srgbClr val="4B698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0" name="Oval 9"/>
          <p:cNvSpPr/>
          <p:nvPr/>
        </p:nvSpPr>
        <p:spPr>
          <a:xfrm>
            <a:off x="9601200" y="3566160"/>
            <a:ext cx="292608" cy="292608"/>
          </a:xfrm>
          <a:prstGeom prst="ellipse">
            <a:avLst/>
          </a:prstGeom>
          <a:solidFill>
            <a:srgbClr val="4B698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pic>
        <p:nvPicPr>
          <p:cNvPr id="11"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Introduction</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Delivery companies need efficient routes to reduce travel time, fuel consumption, and operational costs.</a:t>
            </a:r>
          </a:p>
          <a:p>
            <a:pPr>
              <a:spcAft>
                <a:spcPts val="1000"/>
              </a:spcAft>
              <a:defRPr sz="2000"/>
            </a:pPr>
            <a:r>
              <a:rPr sz="1800">
                <a:solidFill>
                  <a:srgbClr val="233750"/>
                </a:solidFill>
                <a:latin typeface="Aptos"/>
              </a:rPr>
              <a:t>The Delivery Route Optimizer finds the shortest and most efficient path between delivery locations.</a:t>
            </a:r>
          </a:p>
          <a:p>
            <a:pPr>
              <a:spcAft>
                <a:spcPts val="1000"/>
              </a:spcAft>
              <a:defRPr sz="2000"/>
            </a:pPr>
            <a:r>
              <a:rPr sz="1800">
                <a:solidFill>
                  <a:srgbClr val="233750"/>
                </a:solidFill>
                <a:latin typeface="Aptos"/>
              </a:rPr>
              <a:t>The road network is represented as a weighted graph.</a:t>
            </a:r>
          </a:p>
          <a:p>
            <a:pPr>
              <a:spcAft>
                <a:spcPts val="1000"/>
              </a:spcAft>
              <a:defRPr sz="2000"/>
            </a:pPr>
            <a:r>
              <a:rPr sz="1800">
                <a:solidFill>
                  <a:srgbClr val="233750"/>
                </a:solidFill>
                <a:latin typeface="Aptos"/>
              </a:rPr>
              <a:t>Locations are vertices and roads are weighted edges.</a:t>
            </a:r>
          </a:p>
          <a:p>
            <a:pPr>
              <a:spcAft>
                <a:spcPts val="1000"/>
              </a:spcAft>
              <a:defRPr sz="2000"/>
            </a:pPr>
            <a:r>
              <a:rPr sz="1800">
                <a:solidFill>
                  <a:srgbClr val="233750"/>
                </a:solidFill>
                <a:latin typeface="Aptos"/>
              </a:rPr>
              <a:t>Dijkstra’s Shortest Path Algorithm is used to calculate optimal routes.</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02</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cxnSp>
        <p:nvCxnSpPr>
          <p:cNvPr id="9" name="Connector 8"/>
          <p:cNvCxnSpPr/>
          <p:nvPr/>
        </p:nvCxnSpPr>
        <p:spPr>
          <a:xfrm flipV="1">
            <a:off x="6620256" y="4379976"/>
            <a:ext cx="1051560" cy="32004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036308" y="4375404"/>
            <a:ext cx="256032" cy="201168"/>
          </a:xfrm>
          <a:prstGeom prst="rect">
            <a:avLst/>
          </a:prstGeom>
          <a:noFill/>
        </p:spPr>
        <p:txBody>
          <a:bodyPr wrap="none" anchor="ctr">
            <a:spAutoFit/>
          </a:bodyPr>
          <a:lstStyle/>
          <a:p>
            <a:pPr algn="ctr"/>
            <a:r>
              <a:rPr sz="700" b="0">
                <a:solidFill>
                  <a:srgbClr val="5A5A5A"/>
                </a:solidFill>
              </a:rPr>
              <a:t>4</a:t>
            </a:r>
          </a:p>
        </p:txBody>
      </p:sp>
      <p:cxnSp>
        <p:nvCxnSpPr>
          <p:cNvPr id="11" name="Connector 10"/>
          <p:cNvCxnSpPr/>
          <p:nvPr/>
        </p:nvCxnSpPr>
        <p:spPr>
          <a:xfrm>
            <a:off x="6620256" y="4700016"/>
            <a:ext cx="1051560" cy="45720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36308" y="4764024"/>
            <a:ext cx="256032" cy="201168"/>
          </a:xfrm>
          <a:prstGeom prst="rect">
            <a:avLst/>
          </a:prstGeom>
          <a:noFill/>
        </p:spPr>
        <p:txBody>
          <a:bodyPr wrap="none" anchor="ctr">
            <a:spAutoFit/>
          </a:bodyPr>
          <a:lstStyle/>
          <a:p>
            <a:pPr algn="ctr"/>
            <a:r>
              <a:rPr sz="700" b="0">
                <a:solidFill>
                  <a:srgbClr val="5A5A5A"/>
                </a:solidFill>
              </a:rPr>
              <a:t>7</a:t>
            </a:r>
          </a:p>
        </p:txBody>
      </p:sp>
      <p:cxnSp>
        <p:nvCxnSpPr>
          <p:cNvPr id="13" name="Connector 12"/>
          <p:cNvCxnSpPr/>
          <p:nvPr/>
        </p:nvCxnSpPr>
        <p:spPr>
          <a:xfrm>
            <a:off x="7671816" y="4379976"/>
            <a:ext cx="1188720" cy="18288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56448" y="4306824"/>
            <a:ext cx="256032" cy="201168"/>
          </a:xfrm>
          <a:prstGeom prst="rect">
            <a:avLst/>
          </a:prstGeom>
          <a:noFill/>
        </p:spPr>
        <p:txBody>
          <a:bodyPr wrap="none" anchor="ctr">
            <a:spAutoFit/>
          </a:bodyPr>
          <a:lstStyle/>
          <a:p>
            <a:pPr algn="ctr"/>
            <a:r>
              <a:rPr sz="700" b="0">
                <a:solidFill>
                  <a:srgbClr val="5A5A5A"/>
                </a:solidFill>
              </a:rPr>
              <a:t>3</a:t>
            </a:r>
          </a:p>
        </p:txBody>
      </p:sp>
      <p:cxnSp>
        <p:nvCxnSpPr>
          <p:cNvPr id="15" name="Connector 14"/>
          <p:cNvCxnSpPr/>
          <p:nvPr/>
        </p:nvCxnSpPr>
        <p:spPr>
          <a:xfrm flipV="1">
            <a:off x="7671816" y="4562856"/>
            <a:ext cx="1188720" cy="59436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56448" y="4695444"/>
            <a:ext cx="256032" cy="201168"/>
          </a:xfrm>
          <a:prstGeom prst="rect">
            <a:avLst/>
          </a:prstGeom>
          <a:noFill/>
        </p:spPr>
        <p:txBody>
          <a:bodyPr wrap="none" anchor="ctr">
            <a:spAutoFit/>
          </a:bodyPr>
          <a:lstStyle/>
          <a:p>
            <a:pPr algn="ctr"/>
            <a:r>
              <a:rPr sz="700" b="0">
                <a:solidFill>
                  <a:srgbClr val="5A5A5A"/>
                </a:solidFill>
              </a:rPr>
              <a:t>2</a:t>
            </a:r>
          </a:p>
        </p:txBody>
      </p:sp>
      <p:cxnSp>
        <p:nvCxnSpPr>
          <p:cNvPr id="17" name="Connector 16"/>
          <p:cNvCxnSpPr/>
          <p:nvPr/>
        </p:nvCxnSpPr>
        <p:spPr>
          <a:xfrm>
            <a:off x="7671816" y="5157216"/>
            <a:ext cx="1188720" cy="13716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56448" y="5061204"/>
            <a:ext cx="256032" cy="201168"/>
          </a:xfrm>
          <a:prstGeom prst="rect">
            <a:avLst/>
          </a:prstGeom>
          <a:noFill/>
        </p:spPr>
        <p:txBody>
          <a:bodyPr wrap="none" anchor="ctr">
            <a:spAutoFit/>
          </a:bodyPr>
          <a:lstStyle/>
          <a:p>
            <a:pPr algn="ctr"/>
            <a:r>
              <a:rPr sz="700" b="0">
                <a:solidFill>
                  <a:srgbClr val="5A5A5A"/>
                </a:solidFill>
              </a:rPr>
              <a:t>5</a:t>
            </a:r>
          </a:p>
        </p:txBody>
      </p:sp>
      <p:cxnSp>
        <p:nvCxnSpPr>
          <p:cNvPr id="19" name="Connector 18"/>
          <p:cNvCxnSpPr/>
          <p:nvPr/>
        </p:nvCxnSpPr>
        <p:spPr>
          <a:xfrm>
            <a:off x="8860536" y="4562856"/>
            <a:ext cx="0" cy="731520"/>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750808" y="4764024"/>
            <a:ext cx="256032" cy="201168"/>
          </a:xfrm>
          <a:prstGeom prst="rect">
            <a:avLst/>
          </a:prstGeom>
          <a:noFill/>
        </p:spPr>
        <p:txBody>
          <a:bodyPr wrap="none" anchor="ctr">
            <a:spAutoFit/>
          </a:bodyPr>
          <a:lstStyle/>
          <a:p>
            <a:pPr algn="ctr"/>
            <a:r>
              <a:rPr sz="700" b="0">
                <a:solidFill>
                  <a:srgbClr val="5A5A5A"/>
                </a:solidFill>
              </a:rPr>
              <a:t>4</a:t>
            </a:r>
          </a:p>
        </p:txBody>
      </p:sp>
      <p:cxnSp>
        <p:nvCxnSpPr>
          <p:cNvPr id="21" name="Connector 20"/>
          <p:cNvCxnSpPr/>
          <p:nvPr/>
        </p:nvCxnSpPr>
        <p:spPr>
          <a:xfrm>
            <a:off x="8860536" y="4562856"/>
            <a:ext cx="1280160" cy="347472"/>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390888" y="4572000"/>
            <a:ext cx="256032" cy="201168"/>
          </a:xfrm>
          <a:prstGeom prst="rect">
            <a:avLst/>
          </a:prstGeom>
          <a:noFill/>
        </p:spPr>
        <p:txBody>
          <a:bodyPr wrap="none" anchor="ctr">
            <a:spAutoFit/>
          </a:bodyPr>
          <a:lstStyle/>
          <a:p>
            <a:pPr algn="ctr"/>
            <a:r>
              <a:rPr sz="700" b="0">
                <a:solidFill>
                  <a:srgbClr val="5A5A5A"/>
                </a:solidFill>
              </a:rPr>
              <a:t>6</a:t>
            </a:r>
          </a:p>
        </p:txBody>
      </p:sp>
      <p:cxnSp>
        <p:nvCxnSpPr>
          <p:cNvPr id="23" name="Connector 22"/>
          <p:cNvCxnSpPr/>
          <p:nvPr/>
        </p:nvCxnSpPr>
        <p:spPr>
          <a:xfrm flipV="1">
            <a:off x="8860536" y="4910328"/>
            <a:ext cx="1280160" cy="384048"/>
          </a:xfrm>
          <a:prstGeom prst="line">
            <a:avLst/>
          </a:prstGeom>
          <a:ln w="17780">
            <a:solidFill>
              <a:srgbClr val="5A5A5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390888" y="4937760"/>
            <a:ext cx="256032" cy="201168"/>
          </a:xfrm>
          <a:prstGeom prst="rect">
            <a:avLst/>
          </a:prstGeom>
          <a:noFill/>
        </p:spPr>
        <p:txBody>
          <a:bodyPr wrap="none" anchor="ctr">
            <a:spAutoFit/>
          </a:bodyPr>
          <a:lstStyle/>
          <a:p>
            <a:pPr algn="ctr"/>
            <a:r>
              <a:rPr sz="700" b="0">
                <a:solidFill>
                  <a:srgbClr val="5A5A5A"/>
                </a:solidFill>
              </a:rPr>
              <a:t>2</a:t>
            </a:r>
          </a:p>
        </p:txBody>
      </p:sp>
      <p:sp>
        <p:nvSpPr>
          <p:cNvPr id="25" name="Oval 24"/>
          <p:cNvSpPr/>
          <p:nvPr/>
        </p:nvSpPr>
        <p:spPr>
          <a:xfrm>
            <a:off x="6400800" y="4480559"/>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4480559"/>
            <a:ext cx="438912" cy="438912"/>
          </a:xfrm>
          <a:prstGeom prst="rect">
            <a:avLst/>
          </a:prstGeom>
          <a:noFill/>
        </p:spPr>
        <p:txBody>
          <a:bodyPr wrap="none" anchor="ctr">
            <a:spAutoFit/>
          </a:bodyPr>
          <a:lstStyle/>
          <a:p>
            <a:pPr algn="ctr"/>
            <a:r>
              <a:rPr sz="800" b="1">
                <a:solidFill>
                  <a:srgbClr val="1F3756"/>
                </a:solidFill>
              </a:rPr>
              <a:t>Warehouse</a:t>
            </a:r>
          </a:p>
        </p:txBody>
      </p:sp>
      <p:sp>
        <p:nvSpPr>
          <p:cNvPr id="27" name="Oval 26"/>
          <p:cNvSpPr/>
          <p:nvPr/>
        </p:nvSpPr>
        <p:spPr>
          <a:xfrm>
            <a:off x="7452360" y="4160520"/>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52360" y="4160520"/>
            <a:ext cx="438912" cy="438912"/>
          </a:xfrm>
          <a:prstGeom prst="rect">
            <a:avLst/>
          </a:prstGeom>
          <a:noFill/>
        </p:spPr>
        <p:txBody>
          <a:bodyPr wrap="none" anchor="ctr">
            <a:spAutoFit/>
          </a:bodyPr>
          <a:lstStyle/>
          <a:p>
            <a:pPr algn="ctr"/>
            <a:r>
              <a:rPr sz="800" b="1">
                <a:solidFill>
                  <a:srgbClr val="1F3756"/>
                </a:solidFill>
              </a:rPr>
              <a:t>A</a:t>
            </a:r>
          </a:p>
        </p:txBody>
      </p:sp>
      <p:sp>
        <p:nvSpPr>
          <p:cNvPr id="29" name="Oval 28"/>
          <p:cNvSpPr/>
          <p:nvPr/>
        </p:nvSpPr>
        <p:spPr>
          <a:xfrm>
            <a:off x="7452360" y="4937759"/>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4937759"/>
            <a:ext cx="438912" cy="438912"/>
          </a:xfrm>
          <a:prstGeom prst="rect">
            <a:avLst/>
          </a:prstGeom>
          <a:noFill/>
        </p:spPr>
        <p:txBody>
          <a:bodyPr wrap="none" anchor="ctr">
            <a:spAutoFit/>
          </a:bodyPr>
          <a:lstStyle/>
          <a:p>
            <a:pPr algn="ctr"/>
            <a:r>
              <a:rPr sz="800" b="1">
                <a:solidFill>
                  <a:srgbClr val="1F3756"/>
                </a:solidFill>
              </a:rPr>
              <a:t>B</a:t>
            </a:r>
          </a:p>
        </p:txBody>
      </p:sp>
      <p:sp>
        <p:nvSpPr>
          <p:cNvPr id="31" name="Oval 30"/>
          <p:cNvSpPr/>
          <p:nvPr/>
        </p:nvSpPr>
        <p:spPr>
          <a:xfrm>
            <a:off x="8641080" y="4343400"/>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1080" y="4343400"/>
            <a:ext cx="438912" cy="438912"/>
          </a:xfrm>
          <a:prstGeom prst="rect">
            <a:avLst/>
          </a:prstGeom>
          <a:noFill/>
        </p:spPr>
        <p:txBody>
          <a:bodyPr wrap="none" anchor="ctr">
            <a:spAutoFit/>
          </a:bodyPr>
          <a:lstStyle/>
          <a:p>
            <a:pPr algn="ctr"/>
            <a:r>
              <a:rPr sz="800" b="1">
                <a:solidFill>
                  <a:srgbClr val="1F3756"/>
                </a:solidFill>
              </a:rPr>
              <a:t>C</a:t>
            </a:r>
          </a:p>
        </p:txBody>
      </p:sp>
      <p:sp>
        <p:nvSpPr>
          <p:cNvPr id="33" name="Oval 32"/>
          <p:cNvSpPr/>
          <p:nvPr/>
        </p:nvSpPr>
        <p:spPr>
          <a:xfrm>
            <a:off x="8641080" y="5074920"/>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1080" y="5074920"/>
            <a:ext cx="438912" cy="438912"/>
          </a:xfrm>
          <a:prstGeom prst="rect">
            <a:avLst/>
          </a:prstGeom>
          <a:noFill/>
        </p:spPr>
        <p:txBody>
          <a:bodyPr wrap="none" anchor="ctr">
            <a:spAutoFit/>
          </a:bodyPr>
          <a:lstStyle/>
          <a:p>
            <a:pPr algn="ctr"/>
            <a:r>
              <a:rPr sz="800" b="1">
                <a:solidFill>
                  <a:srgbClr val="1F3756"/>
                </a:solidFill>
              </a:rPr>
              <a:t>D</a:t>
            </a:r>
          </a:p>
        </p:txBody>
      </p:sp>
      <p:sp>
        <p:nvSpPr>
          <p:cNvPr id="35" name="Oval 34"/>
          <p:cNvSpPr/>
          <p:nvPr/>
        </p:nvSpPr>
        <p:spPr>
          <a:xfrm>
            <a:off x="9921240" y="4690872"/>
            <a:ext cx="438912" cy="438912"/>
          </a:xfrm>
          <a:prstGeom prst="ellipse">
            <a:avLst/>
          </a:prstGeom>
          <a:solidFill>
            <a:srgbClr val="FFFFFF"/>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21240" y="4690872"/>
            <a:ext cx="438912" cy="438912"/>
          </a:xfrm>
          <a:prstGeom prst="rect">
            <a:avLst/>
          </a:prstGeom>
          <a:noFill/>
        </p:spPr>
        <p:txBody>
          <a:bodyPr wrap="none" anchor="ctr">
            <a:spAutoFit/>
          </a:bodyPr>
          <a:lstStyle/>
          <a:p>
            <a:pPr algn="ctr"/>
            <a:r>
              <a:rPr sz="800" b="1">
                <a:solidFill>
                  <a:srgbClr val="1F3756"/>
                </a:solidFill>
              </a:rPr>
              <a:t>Customer</a:t>
            </a:r>
          </a:p>
        </p:txBody>
      </p:sp>
      <p:sp>
        <p:nvSpPr>
          <p:cNvPr id="37" name="TextBox 36"/>
          <p:cNvSpPr txBox="1"/>
          <p:nvPr/>
        </p:nvSpPr>
        <p:spPr>
          <a:xfrm>
            <a:off x="6400800" y="5650992"/>
            <a:ext cx="4023360" cy="228600"/>
          </a:xfrm>
          <a:prstGeom prst="rect">
            <a:avLst/>
          </a:prstGeom>
          <a:noFill/>
        </p:spPr>
        <p:txBody>
          <a:bodyPr wrap="none" anchor="ctr">
            <a:spAutoFit/>
          </a:bodyPr>
          <a:lstStyle/>
          <a:p>
            <a:pPr algn="ctr"/>
            <a:r>
              <a:rPr sz="800" b="0">
                <a:solidFill>
                  <a:srgbClr val="5A5A5A"/>
                </a:solidFill>
              </a:rPr>
              <a:t>Weighted graph: locations = vertices, roads = weighted edges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972800" cy="731520"/>
          </a:xfrm>
          <a:prstGeom prst="rect">
            <a:avLst/>
          </a:prstGeom>
          <a:noFill/>
        </p:spPr>
        <p:txBody>
          <a:bodyPr wrap="none">
            <a:spAutoFit/>
          </a:bodyPr>
          <a:lstStyle/>
          <a:p>
            <a:r>
              <a:rPr sz="3000" b="1">
                <a:solidFill>
                  <a:srgbClr val="233750"/>
                </a:solidFill>
                <a:latin typeface="Aptos"/>
              </a:rPr>
              <a:t>Abstract</a:t>
            </a:r>
          </a:p>
        </p:txBody>
      </p:sp>
      <p:sp>
        <p:nvSpPr>
          <p:cNvPr id="4" name="TextBox 3"/>
          <p:cNvSpPr txBox="1"/>
          <p:nvPr/>
        </p:nvSpPr>
        <p:spPr>
          <a:xfrm>
            <a:off x="822960" y="1325880"/>
            <a:ext cx="10515600" cy="4937760"/>
          </a:xfrm>
          <a:prstGeom prst="rect">
            <a:avLst/>
          </a:prstGeom>
          <a:noFill/>
        </p:spPr>
        <p:txBody>
          <a:bodyPr wrap="square">
            <a:spAutoFit/>
          </a:bodyPr>
          <a:lstStyle/>
          <a:p>
            <a:pPr>
              <a:lnSpc>
                <a:spcPct val="100000"/>
              </a:lnSpc>
              <a:spcAft>
                <a:spcPts val="1000"/>
              </a:spcAft>
              <a:defRPr sz="1800">
                <a:solidFill>
                  <a:srgbClr val="233750"/>
                </a:solidFill>
                <a:latin typeface="Aptos"/>
              </a:defRPr>
            </a:pPr>
            <a:r>
              <a:t>The Delivery Route Optimizer is a DSA-based application developed to assist logistics companies in planning efficient delivery routes. In the transportation industry, selecting the shortest path between multiple delivery locations helps reduce fuel consumption, delivery time, and operational costs.</a:t>
            </a:r>
          </a:p>
          <a:p>
            <a:pPr>
              <a:lnSpc>
                <a:spcPct val="100000"/>
              </a:lnSpc>
              <a:spcAft>
                <a:spcPts val="1000"/>
              </a:spcAft>
              <a:defRPr sz="1800">
                <a:solidFill>
                  <a:srgbClr val="233750"/>
                </a:solidFill>
                <a:latin typeface="Aptos"/>
              </a:defRPr>
            </a:pPr>
            <a:r>
              <a:t>The project models a road network as a weighted graph where locations are represented as vertices and roads are represented as weighted edges. The system applies Dijkstra's Shortest Path Algorithm along with Priority Queues (Min Heap) to compute the shortest route between a warehouse and customer locations.</a:t>
            </a:r>
          </a:p>
          <a:p>
            <a:pPr>
              <a:lnSpc>
                <a:spcPct val="100000"/>
              </a:lnSpc>
              <a:spcAft>
                <a:spcPts val="1000"/>
              </a:spcAft>
              <a:defRPr sz="1800">
                <a:solidFill>
                  <a:srgbClr val="233750"/>
                </a:solidFill>
                <a:latin typeface="Aptos"/>
              </a:defRPr>
            </a:pPr>
            <a:r>
              <a:t>The application allows users to add new locations, connect them with road distances, modify existing routes, and find the optimal delivery path. The graph is implemented using an adjacency list to improve memory efficiency and performance.</a:t>
            </a:r>
          </a:p>
          <a:p>
            <a:pPr>
              <a:lnSpc>
                <a:spcPct val="100000"/>
              </a:lnSpc>
              <a:spcAft>
                <a:spcPts val="1000"/>
              </a:spcAft>
              <a:defRPr sz="1800">
                <a:solidFill>
                  <a:srgbClr val="233750"/>
                </a:solidFill>
                <a:latin typeface="Aptos"/>
              </a:defRPr>
            </a:pPr>
            <a:r>
              <a:t>This project demonstrates practical applications of Data Structures and Algorithms such as Graphs, Hash Maps, Arrays, Priority Queues, and Greedy Algorithms. It provides an easy-to-use interface that helps visualize delivery routes and generates optimized paths.</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98480" y="6446520"/>
            <a:ext cx="822960" cy="228600"/>
          </a:xfrm>
          <a:prstGeom prst="rect">
            <a:avLst/>
          </a:prstGeom>
          <a:noFill/>
        </p:spPr>
        <p:txBody>
          <a:bodyPr wrap="none">
            <a:spAutoFit/>
          </a:bodyPr>
          <a:lstStyle/>
          <a:p>
            <a:pPr algn="r">
              <a:defRPr sz="1000">
                <a:solidFill>
                  <a:srgbClr val="233750"/>
                </a:solidFill>
                <a:latin typeface="Aptos"/>
              </a:defRPr>
            </a:pPr>
            <a:r>
              <a:t>03</a:t>
            </a:r>
          </a:p>
        </p:txBody>
      </p:sp>
      <p:pic>
        <p:nvPicPr>
          <p:cNvPr id="7" name="Picture 6" descr="image.png"/>
          <p:cNvPicPr>
            <a:picLocks noChangeAspect="1"/>
          </p:cNvPicPr>
          <p:nvPr/>
        </p:nvPicPr>
        <p:blipFill>
          <a:blip r:embed="rId2"/>
          <a:stretch>
            <a:fillRect/>
          </a:stretch>
        </p:blipFill>
        <p:spPr>
          <a:xfrm>
            <a:off x="10634472" y="155448"/>
            <a:ext cx="1371600" cy="5275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Software Requirements</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Programming Language: C / C++ / Java (based on implementation)</a:t>
            </a:r>
          </a:p>
          <a:p>
            <a:pPr>
              <a:spcAft>
                <a:spcPts val="1000"/>
              </a:spcAft>
              <a:defRPr sz="2000"/>
            </a:pPr>
            <a:r>
              <a:rPr sz="1800">
                <a:solidFill>
                  <a:srgbClr val="233750"/>
                </a:solidFill>
                <a:latin typeface="Aptos"/>
              </a:rPr>
              <a:t>IDE: VS Code / Code::Blocks / IntelliJ</a:t>
            </a:r>
          </a:p>
          <a:p>
            <a:pPr>
              <a:spcAft>
                <a:spcPts val="1000"/>
              </a:spcAft>
              <a:defRPr sz="2000"/>
            </a:pPr>
            <a:r>
              <a:rPr sz="1800">
                <a:solidFill>
                  <a:srgbClr val="233750"/>
                </a:solidFill>
                <a:latin typeface="Aptos"/>
              </a:rPr>
              <a:t>Operating System: Windows or Linux</a:t>
            </a:r>
          </a:p>
          <a:p>
            <a:pPr>
              <a:spcAft>
                <a:spcPts val="1000"/>
              </a:spcAft>
              <a:defRPr sz="2000"/>
            </a:pPr>
            <a:r>
              <a:rPr sz="1800">
                <a:solidFill>
                  <a:srgbClr val="233750"/>
                </a:solidFill>
                <a:latin typeface="Aptos"/>
              </a:rPr>
              <a:t>Data Structures: Graph, Array, Hash Map, Priority Queue</a:t>
            </a:r>
          </a:p>
          <a:p>
            <a:pPr>
              <a:spcAft>
                <a:spcPts val="1000"/>
              </a:spcAft>
              <a:defRPr sz="2000"/>
            </a:pPr>
            <a:r>
              <a:rPr sz="1800">
                <a:solidFill>
                  <a:srgbClr val="233750"/>
                </a:solidFill>
                <a:latin typeface="Aptos"/>
              </a:rPr>
              <a:t>Graph Representation: Adjacency List</a:t>
            </a:r>
          </a:p>
          <a:p>
            <a:pPr>
              <a:spcAft>
                <a:spcPts val="1000"/>
              </a:spcAft>
              <a:defRPr sz="2000"/>
            </a:pPr>
            <a:r>
              <a:rPr sz="1800">
                <a:solidFill>
                  <a:srgbClr val="233750"/>
                </a:solidFill>
                <a:latin typeface="Aptos"/>
              </a:rPr>
              <a:t>Algorithm: Dijkstra’s Shortest Path Algorithm</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04</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Hardware Requirements</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Processor: Intel Core i3 or equivalent</a:t>
            </a:r>
          </a:p>
          <a:p>
            <a:pPr>
              <a:spcAft>
                <a:spcPts val="1000"/>
              </a:spcAft>
              <a:defRPr sz="2000"/>
            </a:pPr>
            <a:r>
              <a:rPr sz="1800">
                <a:solidFill>
                  <a:srgbClr val="233750"/>
                </a:solidFill>
                <a:latin typeface="Aptos"/>
              </a:rPr>
              <a:t>RAM: Minimum 4 GB</a:t>
            </a:r>
          </a:p>
          <a:p>
            <a:pPr>
              <a:spcAft>
                <a:spcPts val="1000"/>
              </a:spcAft>
              <a:defRPr sz="2000"/>
            </a:pPr>
            <a:r>
              <a:rPr sz="1800">
                <a:solidFill>
                  <a:srgbClr val="233750"/>
                </a:solidFill>
                <a:latin typeface="Aptos"/>
              </a:rPr>
              <a:t>Storage: Minimum 500 MB free space</a:t>
            </a:r>
          </a:p>
          <a:p>
            <a:pPr>
              <a:spcAft>
                <a:spcPts val="1000"/>
              </a:spcAft>
              <a:defRPr sz="2000"/>
            </a:pPr>
            <a:r>
              <a:rPr sz="1800">
                <a:solidFill>
                  <a:srgbClr val="233750"/>
                </a:solidFill>
                <a:latin typeface="Aptos"/>
              </a:rPr>
              <a:t>Standard monitor</a:t>
            </a:r>
          </a:p>
          <a:p>
            <a:pPr>
              <a:spcAft>
                <a:spcPts val="1000"/>
              </a:spcAft>
              <a:defRPr sz="2000"/>
            </a:pPr>
            <a:r>
              <a:rPr sz="1800">
                <a:solidFill>
                  <a:srgbClr val="233750"/>
                </a:solidFill>
                <a:latin typeface="Aptos"/>
              </a:rPr>
              <a:t>Keyboard and mouse</a:t>
            </a:r>
          </a:p>
          <a:p>
            <a:pPr>
              <a:spcAft>
                <a:spcPts val="1000"/>
              </a:spcAft>
              <a:defRPr sz="2000"/>
            </a:pPr>
            <a:r>
              <a:rPr sz="1800">
                <a:solidFill>
                  <a:srgbClr val="233750"/>
                </a:solidFill>
                <a:latin typeface="Aptos"/>
              </a:rPr>
              <a:t>Internet connection is optional for the basic algorithm</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05</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Literature Survey</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Manual route planning – time-consuming and difficult to optimize.</a:t>
            </a:r>
          </a:p>
          <a:p>
            <a:pPr>
              <a:spcAft>
                <a:spcPts val="1000"/>
              </a:spcAft>
              <a:defRPr sz="2000"/>
            </a:pPr>
            <a:r>
              <a:rPr sz="1800">
                <a:solidFill>
                  <a:srgbClr val="233750"/>
                </a:solidFill>
                <a:latin typeface="Aptos"/>
              </a:rPr>
              <a:t>Basic graph traversal – may not provide the shortest weighted path.</a:t>
            </a:r>
          </a:p>
          <a:p>
            <a:pPr>
              <a:spcAft>
                <a:spcPts val="1000"/>
              </a:spcAft>
              <a:defRPr sz="2000"/>
            </a:pPr>
            <a:r>
              <a:rPr sz="1800">
                <a:solidFill>
                  <a:srgbClr val="233750"/>
                </a:solidFill>
                <a:latin typeface="Aptos"/>
              </a:rPr>
              <a:t>Inefficient graph representations – can require more memory for large networks.</a:t>
            </a:r>
          </a:p>
          <a:p>
            <a:pPr>
              <a:spcAft>
                <a:spcPts val="1000"/>
              </a:spcAft>
              <a:defRPr sz="2000"/>
            </a:pPr>
            <a:r>
              <a:rPr sz="1800">
                <a:solidFill>
                  <a:srgbClr val="233750"/>
                </a:solidFill>
                <a:latin typeface="Aptos"/>
              </a:rPr>
              <a:t>Searching many possible routes – can be computationally expensive.</a:t>
            </a:r>
          </a:p>
          <a:p>
            <a:pPr>
              <a:spcAft>
                <a:spcPts val="1000"/>
              </a:spcAft>
              <a:defRPr sz="2000"/>
            </a:pPr>
            <a:r>
              <a:rPr sz="1800">
                <a:solidFill>
                  <a:srgbClr val="233750"/>
                </a:solidFill>
                <a:latin typeface="Aptos"/>
              </a:rPr>
              <a:t>Proposed approach – Dijkstra’s Algorithm with Min Heap and Adjacency List provides an efficient shortest-path solution.</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06</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Methodology</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1. Input delivery locations and road distances.</a:t>
            </a:r>
          </a:p>
          <a:p>
            <a:pPr>
              <a:spcAft>
                <a:spcPts val="1000"/>
              </a:spcAft>
              <a:defRPr sz="2000"/>
            </a:pPr>
            <a:r>
              <a:rPr sz="1800">
                <a:solidFill>
                  <a:srgbClr val="233750"/>
                </a:solidFill>
                <a:latin typeface="Aptos"/>
              </a:rPr>
              <a:t>2. Create the weighted graph.</a:t>
            </a:r>
          </a:p>
          <a:p>
            <a:pPr>
              <a:spcAft>
                <a:spcPts val="1000"/>
              </a:spcAft>
              <a:defRPr sz="2000"/>
            </a:pPr>
            <a:r>
              <a:rPr sz="1800">
                <a:solidFill>
                  <a:srgbClr val="233750"/>
                </a:solidFill>
                <a:latin typeface="Aptos"/>
              </a:rPr>
              <a:t>3. Store connections using an adjacency list.</a:t>
            </a:r>
          </a:p>
          <a:p>
            <a:pPr>
              <a:spcAft>
                <a:spcPts val="1000"/>
              </a:spcAft>
              <a:defRPr sz="2000"/>
            </a:pPr>
            <a:r>
              <a:rPr sz="1800">
                <a:solidFill>
                  <a:srgbClr val="233750"/>
                </a:solidFill>
                <a:latin typeface="Aptos"/>
              </a:rPr>
              <a:t>4. Select warehouse as the source location.</a:t>
            </a:r>
          </a:p>
          <a:p>
            <a:pPr>
              <a:spcAft>
                <a:spcPts val="1000"/>
              </a:spcAft>
              <a:defRPr sz="2000"/>
            </a:pPr>
            <a:r>
              <a:rPr sz="1800">
                <a:solidFill>
                  <a:srgbClr val="233750"/>
                </a:solidFill>
                <a:latin typeface="Aptos"/>
              </a:rPr>
              <a:t>5. Initialize Dijkstra’s shortest-path calculation.</a:t>
            </a:r>
          </a:p>
          <a:p>
            <a:pPr>
              <a:spcAft>
                <a:spcPts val="1000"/>
              </a:spcAft>
              <a:defRPr sz="2000"/>
            </a:pPr>
            <a:r>
              <a:rPr sz="1800">
                <a:solidFill>
                  <a:srgbClr val="233750"/>
                </a:solidFill>
                <a:latin typeface="Aptos"/>
              </a:rPr>
              <a:t>6. Process locations using a Min Heap Priority Queue.</a:t>
            </a:r>
          </a:p>
          <a:p>
            <a:pPr>
              <a:spcAft>
                <a:spcPts val="1000"/>
              </a:spcAft>
              <a:defRPr sz="2000"/>
            </a:pPr>
            <a:r>
              <a:rPr sz="1800">
                <a:solidFill>
                  <a:srgbClr val="233750"/>
                </a:solidFill>
                <a:latin typeface="Aptos"/>
              </a:rPr>
              <a:t>7. Update shortest distances and previous nodes.</a:t>
            </a:r>
          </a:p>
          <a:p>
            <a:pPr>
              <a:spcAft>
                <a:spcPts val="1000"/>
              </a:spcAft>
              <a:defRPr sz="2000"/>
            </a:pPr>
            <a:r>
              <a:rPr sz="1800">
                <a:solidFill>
                  <a:srgbClr val="233750"/>
                </a:solidFill>
                <a:latin typeface="Aptos"/>
              </a:rPr>
              <a:t>8. Trace and display the optimal delivery route.</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07</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
        <p:nvSpPr>
          <p:cNvPr id="9" name="Rounded Rectangle 8"/>
          <p:cNvSpPr/>
          <p:nvPr/>
        </p:nvSpPr>
        <p:spPr>
          <a:xfrm>
            <a:off x="9144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46320"/>
            <a:ext cx="1508760" cy="201168"/>
          </a:xfrm>
          <a:prstGeom prst="rect">
            <a:avLst/>
          </a:prstGeom>
          <a:noFill/>
        </p:spPr>
        <p:txBody>
          <a:bodyPr wrap="none" anchor="ctr">
            <a:spAutoFit/>
          </a:bodyPr>
          <a:lstStyle/>
          <a:p>
            <a:pPr algn="ctr"/>
            <a:r>
              <a:rPr sz="900" b="1">
                <a:solidFill>
                  <a:srgbClr val="1F3756"/>
                </a:solidFill>
              </a:rPr>
              <a:t>Input</a:t>
            </a:r>
          </a:p>
        </p:txBody>
      </p:sp>
      <p:sp>
        <p:nvSpPr>
          <p:cNvPr id="11" name="TextBox 10"/>
          <p:cNvSpPr txBox="1"/>
          <p:nvPr/>
        </p:nvSpPr>
        <p:spPr>
          <a:xfrm>
            <a:off x="914400" y="5047488"/>
            <a:ext cx="1508760" cy="310896"/>
          </a:xfrm>
          <a:prstGeom prst="rect">
            <a:avLst/>
          </a:prstGeom>
          <a:noFill/>
        </p:spPr>
        <p:txBody>
          <a:bodyPr wrap="none" anchor="ctr">
            <a:spAutoFit/>
          </a:bodyPr>
          <a:lstStyle/>
          <a:p>
            <a:pPr algn="ctr"/>
            <a:r>
              <a:rPr sz="700" b="0">
                <a:solidFill>
                  <a:srgbClr val="5A5A5A"/>
                </a:solidFill>
              </a:rPr>
              <a:t>Locations +
road distances</a:t>
            </a:r>
          </a:p>
        </p:txBody>
      </p:sp>
      <p:cxnSp>
        <p:nvCxnSpPr>
          <p:cNvPr id="12" name="Connector 11"/>
          <p:cNvCxnSpPr/>
          <p:nvPr/>
        </p:nvCxnSpPr>
        <p:spPr>
          <a:xfrm>
            <a:off x="2423160" y="5129784"/>
            <a:ext cx="475488" cy="0"/>
          </a:xfrm>
          <a:prstGeom prst="line">
            <a:avLst/>
          </a:prstGeom>
          <a:ln w="17780">
            <a:solidFill>
              <a:srgbClr val="1F375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18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4846320"/>
            <a:ext cx="1508760" cy="201168"/>
          </a:xfrm>
          <a:prstGeom prst="rect">
            <a:avLst/>
          </a:prstGeom>
          <a:noFill/>
        </p:spPr>
        <p:txBody>
          <a:bodyPr wrap="none" anchor="ctr">
            <a:spAutoFit/>
          </a:bodyPr>
          <a:lstStyle/>
          <a:p>
            <a:pPr algn="ctr"/>
            <a:r>
              <a:rPr sz="900" b="1">
                <a:solidFill>
                  <a:srgbClr val="1F3756"/>
                </a:solidFill>
              </a:rPr>
              <a:t>Graph</a:t>
            </a:r>
          </a:p>
        </p:txBody>
      </p:sp>
      <p:sp>
        <p:nvSpPr>
          <p:cNvPr id="15" name="TextBox 14"/>
          <p:cNvSpPr txBox="1"/>
          <p:nvPr/>
        </p:nvSpPr>
        <p:spPr>
          <a:xfrm>
            <a:off x="2971800" y="5047488"/>
            <a:ext cx="1508760" cy="310896"/>
          </a:xfrm>
          <a:prstGeom prst="rect">
            <a:avLst/>
          </a:prstGeom>
          <a:noFill/>
        </p:spPr>
        <p:txBody>
          <a:bodyPr wrap="none" anchor="ctr">
            <a:spAutoFit/>
          </a:bodyPr>
          <a:lstStyle/>
          <a:p>
            <a:pPr algn="ctr"/>
            <a:r>
              <a:rPr sz="700" b="0">
                <a:solidFill>
                  <a:srgbClr val="5A5A5A"/>
                </a:solidFill>
              </a:rPr>
              <a:t>Weighted
Graph</a:t>
            </a:r>
          </a:p>
        </p:txBody>
      </p:sp>
      <p:cxnSp>
        <p:nvCxnSpPr>
          <p:cNvPr id="16" name="Connector 15"/>
          <p:cNvCxnSpPr/>
          <p:nvPr/>
        </p:nvCxnSpPr>
        <p:spPr>
          <a:xfrm>
            <a:off x="4480560" y="5129784"/>
            <a:ext cx="475488" cy="0"/>
          </a:xfrm>
          <a:prstGeom prst="line">
            <a:avLst/>
          </a:prstGeom>
          <a:ln w="17780">
            <a:solidFill>
              <a:srgbClr val="1F375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292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4846320"/>
            <a:ext cx="1508760" cy="201168"/>
          </a:xfrm>
          <a:prstGeom prst="rect">
            <a:avLst/>
          </a:prstGeom>
          <a:noFill/>
        </p:spPr>
        <p:txBody>
          <a:bodyPr wrap="none" anchor="ctr">
            <a:spAutoFit/>
          </a:bodyPr>
          <a:lstStyle/>
          <a:p>
            <a:pPr algn="ctr"/>
            <a:r>
              <a:rPr sz="900" b="1">
                <a:solidFill>
                  <a:srgbClr val="1F3756"/>
                </a:solidFill>
              </a:rPr>
              <a:t>Store</a:t>
            </a:r>
          </a:p>
        </p:txBody>
      </p:sp>
      <p:sp>
        <p:nvSpPr>
          <p:cNvPr id="19" name="TextBox 18"/>
          <p:cNvSpPr txBox="1"/>
          <p:nvPr/>
        </p:nvSpPr>
        <p:spPr>
          <a:xfrm>
            <a:off x="5029200" y="5047488"/>
            <a:ext cx="1508760" cy="310896"/>
          </a:xfrm>
          <a:prstGeom prst="rect">
            <a:avLst/>
          </a:prstGeom>
          <a:noFill/>
        </p:spPr>
        <p:txBody>
          <a:bodyPr wrap="none" anchor="ctr">
            <a:spAutoFit/>
          </a:bodyPr>
          <a:lstStyle/>
          <a:p>
            <a:pPr algn="ctr"/>
            <a:r>
              <a:rPr sz="700" b="0">
                <a:solidFill>
                  <a:srgbClr val="5A5A5A"/>
                </a:solidFill>
              </a:rPr>
              <a:t>Adjacency
List</a:t>
            </a:r>
          </a:p>
        </p:txBody>
      </p:sp>
      <p:cxnSp>
        <p:nvCxnSpPr>
          <p:cNvPr id="20" name="Connector 19"/>
          <p:cNvCxnSpPr/>
          <p:nvPr/>
        </p:nvCxnSpPr>
        <p:spPr>
          <a:xfrm>
            <a:off x="6537960" y="5129784"/>
            <a:ext cx="475488" cy="0"/>
          </a:xfrm>
          <a:prstGeom prst="line">
            <a:avLst/>
          </a:prstGeom>
          <a:ln w="17780">
            <a:solidFill>
              <a:srgbClr val="1F375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0866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6600" y="4846320"/>
            <a:ext cx="1508760" cy="201168"/>
          </a:xfrm>
          <a:prstGeom prst="rect">
            <a:avLst/>
          </a:prstGeom>
          <a:noFill/>
        </p:spPr>
        <p:txBody>
          <a:bodyPr wrap="none" anchor="ctr">
            <a:spAutoFit/>
          </a:bodyPr>
          <a:lstStyle/>
          <a:p>
            <a:pPr algn="ctr"/>
            <a:r>
              <a:rPr sz="900" b="1">
                <a:solidFill>
                  <a:srgbClr val="1F3756"/>
                </a:solidFill>
              </a:rPr>
              <a:t>Process</a:t>
            </a:r>
          </a:p>
        </p:txBody>
      </p:sp>
      <p:sp>
        <p:nvSpPr>
          <p:cNvPr id="23" name="TextBox 22"/>
          <p:cNvSpPr txBox="1"/>
          <p:nvPr/>
        </p:nvSpPr>
        <p:spPr>
          <a:xfrm>
            <a:off x="7086600" y="5047488"/>
            <a:ext cx="1508760" cy="310896"/>
          </a:xfrm>
          <a:prstGeom prst="rect">
            <a:avLst/>
          </a:prstGeom>
          <a:noFill/>
        </p:spPr>
        <p:txBody>
          <a:bodyPr wrap="none" anchor="ctr">
            <a:spAutoFit/>
          </a:bodyPr>
          <a:lstStyle/>
          <a:p>
            <a:pPr algn="ctr"/>
            <a:r>
              <a:rPr sz="700" b="0">
                <a:solidFill>
                  <a:srgbClr val="5A5A5A"/>
                </a:solidFill>
              </a:rPr>
              <a:t>Dijkstra +
Min Heap</a:t>
            </a:r>
          </a:p>
        </p:txBody>
      </p:sp>
      <p:cxnSp>
        <p:nvCxnSpPr>
          <p:cNvPr id="24" name="Connector 23"/>
          <p:cNvCxnSpPr/>
          <p:nvPr/>
        </p:nvCxnSpPr>
        <p:spPr>
          <a:xfrm>
            <a:off x="8595360" y="5129784"/>
            <a:ext cx="475488" cy="0"/>
          </a:xfrm>
          <a:prstGeom prst="line">
            <a:avLst/>
          </a:prstGeom>
          <a:ln w="17780">
            <a:solidFill>
              <a:srgbClr val="1F375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0" y="4800600"/>
            <a:ext cx="1508760" cy="658368"/>
          </a:xfrm>
          <a:prstGeom prst="roundRect">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4846320"/>
            <a:ext cx="1508760" cy="201168"/>
          </a:xfrm>
          <a:prstGeom prst="rect">
            <a:avLst/>
          </a:prstGeom>
          <a:noFill/>
        </p:spPr>
        <p:txBody>
          <a:bodyPr wrap="none" anchor="ctr">
            <a:spAutoFit/>
          </a:bodyPr>
          <a:lstStyle/>
          <a:p>
            <a:pPr algn="ctr"/>
            <a:r>
              <a:rPr sz="900" b="1">
                <a:solidFill>
                  <a:srgbClr val="1F3756"/>
                </a:solidFill>
              </a:rPr>
              <a:t>Output</a:t>
            </a:r>
          </a:p>
        </p:txBody>
      </p:sp>
      <p:sp>
        <p:nvSpPr>
          <p:cNvPr id="27" name="TextBox 26"/>
          <p:cNvSpPr txBox="1"/>
          <p:nvPr/>
        </p:nvSpPr>
        <p:spPr>
          <a:xfrm>
            <a:off x="9144000" y="5047488"/>
            <a:ext cx="1508760" cy="310896"/>
          </a:xfrm>
          <a:prstGeom prst="rect">
            <a:avLst/>
          </a:prstGeom>
          <a:noFill/>
        </p:spPr>
        <p:txBody>
          <a:bodyPr wrap="none" anchor="ctr">
            <a:spAutoFit/>
          </a:bodyPr>
          <a:lstStyle/>
          <a:p>
            <a:pPr algn="ctr"/>
            <a:r>
              <a:rPr sz="700" b="0">
                <a:solidFill>
                  <a:srgbClr val="5A5A5A"/>
                </a:solidFill>
              </a:rPr>
              <a:t>Optimal
Route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7" name="Rounded Rectangle 6"/>
          <p:cNvSpPr/>
          <p:nvPr/>
        </p:nvSpPr>
        <p:spPr>
          <a:xfrm>
            <a:off x="594360" y="1234440"/>
            <a:ext cx="10972800" cy="4800600"/>
          </a:xfrm>
          <a:prstGeom prst="roundRect">
            <a:avLst/>
          </a:prstGeom>
          <a:solidFill>
            <a:srgbClr val="FFFFFF"/>
          </a:solidFill>
          <a:ln w="12700">
            <a:solidFill>
              <a:srgbClr val="DCE1E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DSA Concepts Used</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Graph – represents locations and roads.</a:t>
            </a:r>
          </a:p>
          <a:p>
            <a:pPr>
              <a:spcAft>
                <a:spcPts val="1000"/>
              </a:spcAft>
              <a:defRPr sz="2000"/>
            </a:pPr>
            <a:r>
              <a:rPr sz="1800">
                <a:solidFill>
                  <a:srgbClr val="233750"/>
                </a:solidFill>
                <a:latin typeface="Aptos"/>
              </a:rPr>
              <a:t>Adjacency List – stores graph connections efficiently.</a:t>
            </a:r>
          </a:p>
          <a:p>
            <a:pPr>
              <a:spcAft>
                <a:spcPts val="1000"/>
              </a:spcAft>
              <a:defRPr sz="2000"/>
            </a:pPr>
            <a:r>
              <a:rPr sz="1800">
                <a:solidFill>
                  <a:srgbClr val="233750"/>
                </a:solidFill>
                <a:latin typeface="Aptos"/>
              </a:rPr>
              <a:t>Array – stores distance and route information.</a:t>
            </a:r>
          </a:p>
          <a:p>
            <a:pPr>
              <a:spcAft>
                <a:spcPts val="1000"/>
              </a:spcAft>
              <a:defRPr sz="2000"/>
            </a:pPr>
            <a:r>
              <a:rPr sz="1800">
                <a:solidFill>
                  <a:srgbClr val="233750"/>
                </a:solidFill>
                <a:latin typeface="Aptos"/>
              </a:rPr>
              <a:t>Hash Map – supports location-related data management.</a:t>
            </a:r>
          </a:p>
          <a:p>
            <a:pPr>
              <a:spcAft>
                <a:spcPts val="1000"/>
              </a:spcAft>
              <a:defRPr sz="2000"/>
            </a:pPr>
            <a:r>
              <a:rPr sz="1800">
                <a:solidFill>
                  <a:srgbClr val="233750"/>
                </a:solidFill>
                <a:latin typeface="Aptos"/>
              </a:rPr>
              <a:t>Priority Queue / Min Heap – efficiently selects the smallest distance.</a:t>
            </a:r>
          </a:p>
          <a:p>
            <a:pPr>
              <a:spcAft>
                <a:spcPts val="1000"/>
              </a:spcAft>
              <a:defRPr sz="2000"/>
            </a:pPr>
            <a:r>
              <a:rPr sz="1800">
                <a:solidFill>
                  <a:srgbClr val="233750"/>
                </a:solidFill>
                <a:latin typeface="Aptos"/>
              </a:rPr>
              <a:t>Dijkstra’s Algorithm – finds the shortest path.</a:t>
            </a:r>
          </a:p>
          <a:p>
            <a:pPr>
              <a:spcAft>
                <a:spcPts val="1000"/>
              </a:spcAft>
              <a:defRPr sz="2000"/>
            </a:pPr>
            <a:r>
              <a:rPr sz="1800">
                <a:solidFill>
                  <a:srgbClr val="233750"/>
                </a:solidFill>
                <a:latin typeface="Aptos"/>
              </a:rPr>
              <a:t>Greedy Approach – chooses the currently closest location.</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08</a:t>
            </a:r>
          </a:p>
        </p:txBody>
      </p:sp>
      <p:pic>
        <p:nvPicPr>
          <p:cNvPr id="8"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
        <p:nvSpPr>
          <p:cNvPr id="9" name="Oval 8"/>
          <p:cNvSpPr/>
          <p:nvPr/>
        </p:nvSpPr>
        <p:spPr>
          <a:xfrm>
            <a:off x="77724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709160"/>
            <a:ext cx="566928" cy="182880"/>
          </a:xfrm>
          <a:prstGeom prst="rect">
            <a:avLst/>
          </a:prstGeom>
          <a:noFill/>
        </p:spPr>
        <p:txBody>
          <a:bodyPr wrap="none" anchor="ctr">
            <a:spAutoFit/>
          </a:bodyPr>
          <a:lstStyle/>
          <a:p>
            <a:pPr algn="ctr"/>
            <a:r>
              <a:rPr sz="900" b="1">
                <a:solidFill>
                  <a:srgbClr val="1F3756"/>
                </a:solidFill>
              </a:rPr>
              <a:t>1</a:t>
            </a:r>
          </a:p>
        </p:txBody>
      </p:sp>
      <p:sp>
        <p:nvSpPr>
          <p:cNvPr id="11" name="TextBox 10"/>
          <p:cNvSpPr txBox="1"/>
          <p:nvPr/>
        </p:nvSpPr>
        <p:spPr>
          <a:xfrm>
            <a:off x="1435607" y="4590288"/>
            <a:ext cx="1417320" cy="228600"/>
          </a:xfrm>
          <a:prstGeom prst="rect">
            <a:avLst/>
          </a:prstGeom>
          <a:noFill/>
        </p:spPr>
        <p:txBody>
          <a:bodyPr wrap="none" anchor="ctr">
            <a:spAutoFit/>
          </a:bodyPr>
          <a:lstStyle/>
          <a:p>
            <a:pPr algn="l"/>
            <a:r>
              <a:rPr sz="900" b="1">
                <a:solidFill>
                  <a:srgbClr val="1F3756"/>
                </a:solidFill>
              </a:rPr>
              <a:t>Graph</a:t>
            </a:r>
          </a:p>
        </p:txBody>
      </p:sp>
      <p:sp>
        <p:nvSpPr>
          <p:cNvPr id="12" name="TextBox 11"/>
          <p:cNvSpPr txBox="1"/>
          <p:nvPr/>
        </p:nvSpPr>
        <p:spPr>
          <a:xfrm>
            <a:off x="1435607" y="4828032"/>
            <a:ext cx="1417320" cy="320040"/>
          </a:xfrm>
          <a:prstGeom prst="rect">
            <a:avLst/>
          </a:prstGeom>
          <a:noFill/>
        </p:spPr>
        <p:txBody>
          <a:bodyPr wrap="none" anchor="ctr">
            <a:spAutoFit/>
          </a:bodyPr>
          <a:lstStyle/>
          <a:p>
            <a:pPr algn="l"/>
            <a:r>
              <a:rPr sz="700" b="0">
                <a:solidFill>
                  <a:srgbClr val="5A5A5A"/>
                </a:solidFill>
              </a:rPr>
              <a:t>Locations + roads</a:t>
            </a:r>
          </a:p>
        </p:txBody>
      </p:sp>
      <p:sp>
        <p:nvSpPr>
          <p:cNvPr id="13" name="Oval 12"/>
          <p:cNvSpPr/>
          <p:nvPr/>
        </p:nvSpPr>
        <p:spPr>
          <a:xfrm>
            <a:off x="301752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4709160"/>
            <a:ext cx="566928" cy="182880"/>
          </a:xfrm>
          <a:prstGeom prst="rect">
            <a:avLst/>
          </a:prstGeom>
          <a:noFill/>
        </p:spPr>
        <p:txBody>
          <a:bodyPr wrap="none" anchor="ctr">
            <a:spAutoFit/>
          </a:bodyPr>
          <a:lstStyle/>
          <a:p>
            <a:pPr algn="ctr"/>
            <a:r>
              <a:rPr sz="900" b="1">
                <a:solidFill>
                  <a:srgbClr val="1F3756"/>
                </a:solidFill>
              </a:rPr>
              <a:t>2</a:t>
            </a:r>
          </a:p>
        </p:txBody>
      </p:sp>
      <p:sp>
        <p:nvSpPr>
          <p:cNvPr id="15" name="TextBox 14"/>
          <p:cNvSpPr txBox="1"/>
          <p:nvPr/>
        </p:nvSpPr>
        <p:spPr>
          <a:xfrm>
            <a:off x="3675888" y="4590288"/>
            <a:ext cx="1417320" cy="228600"/>
          </a:xfrm>
          <a:prstGeom prst="rect">
            <a:avLst/>
          </a:prstGeom>
          <a:noFill/>
        </p:spPr>
        <p:txBody>
          <a:bodyPr wrap="none" anchor="ctr">
            <a:spAutoFit/>
          </a:bodyPr>
          <a:lstStyle/>
          <a:p>
            <a:pPr algn="l"/>
            <a:r>
              <a:rPr sz="900" b="1">
                <a:solidFill>
                  <a:srgbClr val="1F3756"/>
                </a:solidFill>
              </a:rPr>
              <a:t>Adjacency List</a:t>
            </a:r>
          </a:p>
        </p:txBody>
      </p:sp>
      <p:sp>
        <p:nvSpPr>
          <p:cNvPr id="16" name="TextBox 15"/>
          <p:cNvSpPr txBox="1"/>
          <p:nvPr/>
        </p:nvSpPr>
        <p:spPr>
          <a:xfrm>
            <a:off x="3675888" y="4828032"/>
            <a:ext cx="1417320" cy="320040"/>
          </a:xfrm>
          <a:prstGeom prst="rect">
            <a:avLst/>
          </a:prstGeom>
          <a:noFill/>
        </p:spPr>
        <p:txBody>
          <a:bodyPr wrap="none" anchor="ctr">
            <a:spAutoFit/>
          </a:bodyPr>
          <a:lstStyle/>
          <a:p>
            <a:pPr algn="l"/>
            <a:r>
              <a:rPr sz="700" b="0">
                <a:solidFill>
                  <a:srgbClr val="5A5A5A"/>
                </a:solidFill>
              </a:rPr>
              <a:t>Connections</a:t>
            </a:r>
          </a:p>
        </p:txBody>
      </p:sp>
      <p:sp>
        <p:nvSpPr>
          <p:cNvPr id="17" name="Oval 16"/>
          <p:cNvSpPr/>
          <p:nvPr/>
        </p:nvSpPr>
        <p:spPr>
          <a:xfrm>
            <a:off x="525780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4709160"/>
            <a:ext cx="566928" cy="182880"/>
          </a:xfrm>
          <a:prstGeom prst="rect">
            <a:avLst/>
          </a:prstGeom>
          <a:noFill/>
        </p:spPr>
        <p:txBody>
          <a:bodyPr wrap="none" anchor="ctr">
            <a:spAutoFit/>
          </a:bodyPr>
          <a:lstStyle/>
          <a:p>
            <a:pPr algn="ctr"/>
            <a:r>
              <a:rPr sz="900" b="1">
                <a:solidFill>
                  <a:srgbClr val="1F3756"/>
                </a:solidFill>
              </a:rPr>
              <a:t>3</a:t>
            </a:r>
          </a:p>
        </p:txBody>
      </p:sp>
      <p:sp>
        <p:nvSpPr>
          <p:cNvPr id="19" name="TextBox 18"/>
          <p:cNvSpPr txBox="1"/>
          <p:nvPr/>
        </p:nvSpPr>
        <p:spPr>
          <a:xfrm>
            <a:off x="5916168" y="4590288"/>
            <a:ext cx="1417320" cy="228600"/>
          </a:xfrm>
          <a:prstGeom prst="rect">
            <a:avLst/>
          </a:prstGeom>
          <a:noFill/>
        </p:spPr>
        <p:txBody>
          <a:bodyPr wrap="none" anchor="ctr">
            <a:spAutoFit/>
          </a:bodyPr>
          <a:lstStyle/>
          <a:p>
            <a:pPr algn="l"/>
            <a:r>
              <a:rPr sz="900" b="1">
                <a:solidFill>
                  <a:srgbClr val="1F3756"/>
                </a:solidFill>
              </a:rPr>
              <a:t>Min Heap</a:t>
            </a:r>
          </a:p>
        </p:txBody>
      </p:sp>
      <p:sp>
        <p:nvSpPr>
          <p:cNvPr id="20" name="TextBox 19"/>
          <p:cNvSpPr txBox="1"/>
          <p:nvPr/>
        </p:nvSpPr>
        <p:spPr>
          <a:xfrm>
            <a:off x="5916168" y="4828032"/>
            <a:ext cx="1417320" cy="320040"/>
          </a:xfrm>
          <a:prstGeom prst="rect">
            <a:avLst/>
          </a:prstGeom>
          <a:noFill/>
        </p:spPr>
        <p:txBody>
          <a:bodyPr wrap="none" anchor="ctr">
            <a:spAutoFit/>
          </a:bodyPr>
          <a:lstStyle/>
          <a:p>
            <a:pPr algn="l"/>
            <a:r>
              <a:rPr sz="700" b="0">
                <a:solidFill>
                  <a:srgbClr val="5A5A5A"/>
                </a:solidFill>
              </a:rPr>
              <a:t>Smallest distance</a:t>
            </a:r>
          </a:p>
        </p:txBody>
      </p:sp>
      <p:sp>
        <p:nvSpPr>
          <p:cNvPr id="21" name="Oval 20"/>
          <p:cNvSpPr/>
          <p:nvPr/>
        </p:nvSpPr>
        <p:spPr>
          <a:xfrm>
            <a:off x="749808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0" y="4709160"/>
            <a:ext cx="566928" cy="182880"/>
          </a:xfrm>
          <a:prstGeom prst="rect">
            <a:avLst/>
          </a:prstGeom>
          <a:noFill/>
        </p:spPr>
        <p:txBody>
          <a:bodyPr wrap="none" anchor="ctr">
            <a:spAutoFit/>
          </a:bodyPr>
          <a:lstStyle/>
          <a:p>
            <a:pPr algn="ctr"/>
            <a:r>
              <a:rPr sz="900" b="1">
                <a:solidFill>
                  <a:srgbClr val="1F3756"/>
                </a:solidFill>
              </a:rPr>
              <a:t>4</a:t>
            </a:r>
          </a:p>
        </p:txBody>
      </p:sp>
      <p:sp>
        <p:nvSpPr>
          <p:cNvPr id="23" name="TextBox 22"/>
          <p:cNvSpPr txBox="1"/>
          <p:nvPr/>
        </p:nvSpPr>
        <p:spPr>
          <a:xfrm>
            <a:off x="8156448" y="4590288"/>
            <a:ext cx="1417320" cy="228600"/>
          </a:xfrm>
          <a:prstGeom prst="rect">
            <a:avLst/>
          </a:prstGeom>
          <a:noFill/>
        </p:spPr>
        <p:txBody>
          <a:bodyPr wrap="none" anchor="ctr">
            <a:spAutoFit/>
          </a:bodyPr>
          <a:lstStyle/>
          <a:p>
            <a:pPr algn="l"/>
            <a:r>
              <a:rPr sz="900" b="1">
                <a:solidFill>
                  <a:srgbClr val="1F3756"/>
                </a:solidFill>
              </a:rPr>
              <a:t>Dijkstra</a:t>
            </a:r>
          </a:p>
        </p:txBody>
      </p:sp>
      <p:sp>
        <p:nvSpPr>
          <p:cNvPr id="24" name="TextBox 23"/>
          <p:cNvSpPr txBox="1"/>
          <p:nvPr/>
        </p:nvSpPr>
        <p:spPr>
          <a:xfrm>
            <a:off x="8156448" y="4828032"/>
            <a:ext cx="1417320" cy="320040"/>
          </a:xfrm>
          <a:prstGeom prst="rect">
            <a:avLst/>
          </a:prstGeom>
          <a:noFill/>
        </p:spPr>
        <p:txBody>
          <a:bodyPr wrap="none" anchor="ctr">
            <a:spAutoFit/>
          </a:bodyPr>
          <a:lstStyle/>
          <a:p>
            <a:pPr algn="l"/>
            <a:r>
              <a:rPr sz="700" b="0">
                <a:solidFill>
                  <a:srgbClr val="5A5A5A"/>
                </a:solidFill>
              </a:rPr>
              <a:t>Shortest path</a:t>
            </a:r>
          </a:p>
        </p:txBody>
      </p:sp>
      <p:sp>
        <p:nvSpPr>
          <p:cNvPr id="25" name="Oval 24"/>
          <p:cNvSpPr/>
          <p:nvPr/>
        </p:nvSpPr>
        <p:spPr>
          <a:xfrm>
            <a:off x="9738360" y="4617720"/>
            <a:ext cx="566928" cy="566928"/>
          </a:xfrm>
          <a:prstGeom prst="ellipse">
            <a:avLst/>
          </a:prstGeom>
          <a:solidFill>
            <a:srgbClr val="F5F7FA"/>
          </a:solidFill>
          <a:ln>
            <a:solidFill>
              <a:srgbClr val="1F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38360" y="4709160"/>
            <a:ext cx="566928" cy="182880"/>
          </a:xfrm>
          <a:prstGeom prst="rect">
            <a:avLst/>
          </a:prstGeom>
          <a:noFill/>
        </p:spPr>
        <p:txBody>
          <a:bodyPr wrap="none" anchor="ctr">
            <a:spAutoFit/>
          </a:bodyPr>
          <a:lstStyle/>
          <a:p>
            <a:pPr algn="ctr"/>
            <a:r>
              <a:rPr sz="900" b="1">
                <a:solidFill>
                  <a:srgbClr val="1F3756"/>
                </a:solidFill>
              </a:rPr>
              <a:t>5</a:t>
            </a:r>
          </a:p>
        </p:txBody>
      </p:sp>
      <p:sp>
        <p:nvSpPr>
          <p:cNvPr id="27" name="TextBox 26"/>
          <p:cNvSpPr txBox="1"/>
          <p:nvPr/>
        </p:nvSpPr>
        <p:spPr>
          <a:xfrm>
            <a:off x="10396728" y="4590288"/>
            <a:ext cx="1417320" cy="228600"/>
          </a:xfrm>
          <a:prstGeom prst="rect">
            <a:avLst/>
          </a:prstGeom>
          <a:noFill/>
        </p:spPr>
        <p:txBody>
          <a:bodyPr wrap="none" anchor="ctr">
            <a:spAutoFit/>
          </a:bodyPr>
          <a:lstStyle/>
          <a:p>
            <a:pPr algn="l"/>
            <a:r>
              <a:rPr sz="900" b="1">
                <a:solidFill>
                  <a:srgbClr val="1F3756"/>
                </a:solidFill>
              </a:rPr>
              <a:t>Greedy</a:t>
            </a:r>
          </a:p>
        </p:txBody>
      </p:sp>
      <p:sp>
        <p:nvSpPr>
          <p:cNvPr id="28" name="TextBox 27"/>
          <p:cNvSpPr txBox="1"/>
          <p:nvPr/>
        </p:nvSpPr>
        <p:spPr>
          <a:xfrm>
            <a:off x="10396728" y="4828032"/>
            <a:ext cx="1417320" cy="320040"/>
          </a:xfrm>
          <a:prstGeom prst="rect">
            <a:avLst/>
          </a:prstGeom>
          <a:noFill/>
        </p:spPr>
        <p:txBody>
          <a:bodyPr wrap="none" anchor="ctr">
            <a:spAutoFit/>
          </a:bodyPr>
          <a:lstStyle/>
          <a:p>
            <a:pPr algn="l"/>
            <a:r>
              <a:rPr sz="700" b="0">
                <a:solidFill>
                  <a:srgbClr val="5A5A5A"/>
                </a:solidFill>
              </a:rPr>
              <a:t>Closest choice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1"/>
          <p:cNvSpPr>
            <a:spLocks noGrp="1"/>
          </p:cNvSpPr>
          <p:nvPr/>
        </p:nvSpPr>
        <p:spPr/>
        <p:txBody>
          <a:bodyPr wrap="square">
            <a:noAutofit/>
          </a:bodyPr>
          <a:lstStyle/>
          <a:p>
            <a:endParaRPr/>
          </a:p>
        </p:txBody>
      </p:sp>
      <p:sp>
        <p:nvSpPr>
          <p:cNvPr id="3" name="TextBox 2"/>
          <p:cNvSpPr txBox="1"/>
          <p:nvPr/>
        </p:nvSpPr>
        <p:spPr>
          <a:xfrm>
            <a:off x="640080" y="411480"/>
            <a:ext cx="10972800" cy="731520"/>
          </a:xfrm>
          <a:prstGeom prst="rect">
            <a:avLst/>
          </a:prstGeom>
          <a:noFill/>
        </p:spPr>
        <p:txBody>
          <a:bodyPr wrap="square">
            <a:noAutofit/>
          </a:bodyPr>
          <a:lstStyle/>
          <a:p>
            <a:pPr>
              <a:spcAft>
                <a:spcPts val="1000"/>
              </a:spcAft>
              <a:defRPr sz="3000" b="1"/>
            </a:pPr>
            <a:r>
              <a:rPr sz="3000" b="1">
                <a:solidFill>
                  <a:srgbClr val="233750"/>
                </a:solidFill>
                <a:latin typeface="Aptos"/>
              </a:rPr>
              <a:t>Thank You</a:t>
            </a:r>
          </a:p>
        </p:txBody>
      </p:sp>
      <p:sp>
        <p:nvSpPr>
          <p:cNvPr id="4" name="TextBox 3"/>
          <p:cNvSpPr txBox="1"/>
          <p:nvPr/>
        </p:nvSpPr>
        <p:spPr>
          <a:xfrm>
            <a:off x="822960" y="1325880"/>
            <a:ext cx="10515600" cy="4937760"/>
          </a:xfrm>
          <a:prstGeom prst="rect">
            <a:avLst/>
          </a:prstGeom>
          <a:noFill/>
        </p:spPr>
        <p:txBody>
          <a:bodyPr wrap="square">
            <a:noAutofit/>
          </a:bodyPr>
          <a:lstStyle/>
          <a:p>
            <a:pPr>
              <a:spcAft>
                <a:spcPts val="1000"/>
              </a:spcAft>
              <a:defRPr sz="2000"/>
            </a:pPr>
            <a:r>
              <a:rPr sz="1800">
                <a:solidFill>
                  <a:srgbClr val="233750"/>
                </a:solidFill>
                <a:latin typeface="Aptos"/>
              </a:rPr>
              <a:t>Questions &amp; Discussion</a:t>
            </a:r>
          </a:p>
        </p:txBody>
      </p:sp>
      <p:sp>
        <p:nvSpPr>
          <p:cNvPr id="5" name="Rectangle 4"/>
          <p:cNvSpPr/>
          <p:nvPr/>
        </p:nvSpPr>
        <p:spPr>
          <a:xfrm>
            <a:off x="0" y="0"/>
            <a:ext cx="12191695" cy="146304"/>
          </a:xfrm>
          <a:prstGeom prst="rect">
            <a:avLst/>
          </a:prstGeom>
          <a:solidFill>
            <a:srgbClr val="23375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6" name="TextBox 5"/>
          <p:cNvSpPr txBox="1"/>
          <p:nvPr/>
        </p:nvSpPr>
        <p:spPr>
          <a:xfrm>
            <a:off x="10698480" y="6446520"/>
            <a:ext cx="822960" cy="228600"/>
          </a:xfrm>
          <a:prstGeom prst="rect">
            <a:avLst/>
          </a:prstGeom>
          <a:noFill/>
        </p:spPr>
        <p:txBody>
          <a:bodyPr wrap="square">
            <a:noAutofit/>
          </a:bodyPr>
          <a:lstStyle/>
          <a:p>
            <a:pPr algn="r">
              <a:defRPr sz="1000" b="1">
                <a:solidFill>
                  <a:srgbClr val="4B6987"/>
                </a:solidFill>
              </a:defRPr>
            </a:pPr>
            <a:r>
              <a:t>09</a:t>
            </a:r>
          </a:p>
        </p:txBody>
      </p:sp>
      <p:pic>
        <p:nvPicPr>
          <p:cNvPr id="7" name="KLH Logo" descr="klh_logo_transparent.png"/>
          <p:cNvPicPr>
            <a:picLocks noChangeAspect="1"/>
          </p:cNvPicPr>
          <p:nvPr/>
        </p:nvPicPr>
        <p:blipFill>
          <a:blip r:embed="rId2"/>
          <a:stretch>
            <a:fillRect/>
          </a:stretch>
        </p:blipFill>
        <p:spPr>
          <a:xfrm>
            <a:off x="10637215" y="155448"/>
            <a:ext cx="1371600" cy="5275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591</Words>
  <Application>Microsoft Office PowerPoint</Application>
  <PresentationFormat>Widescreen</PresentationFormat>
  <Paragraphs>65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Shiva Reddy Umanthala</cp:lastModifiedBy>
  <cp:revision>1</cp:revision>
  <dcterms:created xsi:type="dcterms:W3CDTF">2013-01-27T09:14:16Z</dcterms:created>
  <dcterms:modified xsi:type="dcterms:W3CDTF">2026-08-18T03:52:59Z</dcterms:modified>
  <cp:category/>
</cp:coreProperties>
</file>